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6" d="100"/>
          <a:sy n="106" d="100"/>
        </p:scale>
        <p:origin x="75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673934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5A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8B2C2C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914400" y="14630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800" dirty="0">
                <a:solidFill>
                  <a:srgbClr val="C97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PROPOSTA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192024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Percorso di digitalizzazione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914400" y="31089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i="1" dirty="0">
                <a:solidFill>
                  <a:srgbClr val="E8DDC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Una proposta concreta per GSM Servizi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914400" y="4023360"/>
            <a:ext cx="1828800" cy="0"/>
          </a:xfrm>
          <a:prstGeom prst="line">
            <a:avLst/>
          </a:prstGeom>
          <a:noFill/>
          <a:ln w="25400">
            <a:solidFill>
              <a:srgbClr val="C97B5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914400" y="429768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Vittorio Carobene Arangia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Maggio 2026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73152" cy="640080"/>
          </a:xfrm>
          <a:prstGeom prst="rect">
            <a:avLst/>
          </a:prstGeom>
          <a:solidFill>
            <a:srgbClr val="8B2C2C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B21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Chi sono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8B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Vittorio Carobene Arangia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87452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Aiuto aziende e professionisti a costruire una presenza online che funziona davvero: siti web moderni, posizionamento su Google, comunicazione professionale e — quando serve — automazione e intelligenza artificiale per liberare tempo dalle attività ripetitive.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3657600"/>
            <a:ext cx="356616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C9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7" name="Shape 5"/>
          <p:cNvSpPr/>
          <p:nvPr/>
        </p:nvSpPr>
        <p:spPr>
          <a:xfrm>
            <a:off x="457200" y="3657600"/>
            <a:ext cx="3566160" cy="109728"/>
          </a:xfrm>
          <a:prstGeom prst="rect">
            <a:avLst/>
          </a:prstGeom>
          <a:solidFill>
            <a:srgbClr val="8B2C2C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731520" y="39776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B21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Sviluppo web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452628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Siti veloci, mobile-first,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5A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optimizzati per conversione.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297680" y="3657600"/>
            <a:ext cx="356616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C9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1" name="Shape 9"/>
          <p:cNvSpPr/>
          <p:nvPr/>
        </p:nvSpPr>
        <p:spPr>
          <a:xfrm>
            <a:off x="4297680" y="3657600"/>
            <a:ext cx="3566160" cy="109728"/>
          </a:xfrm>
          <a:prstGeom prst="rect">
            <a:avLst/>
          </a:prstGeom>
          <a:solidFill>
            <a:srgbClr val="8B2C2C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4572000" y="39776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B21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SEO &amp; contenuti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572000" y="452628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Posizionamento su Google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5A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contenuti che attraggono clienti.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138160" y="3657600"/>
            <a:ext cx="356616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C9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5" name="Shape 13"/>
          <p:cNvSpPr/>
          <p:nvPr/>
        </p:nvSpPr>
        <p:spPr>
          <a:xfrm>
            <a:off x="8138160" y="3657600"/>
            <a:ext cx="3566160" cy="109728"/>
          </a:xfrm>
          <a:prstGeom prst="rect">
            <a:avLst/>
          </a:prstGeom>
          <a:solidFill>
            <a:srgbClr val="8B2C2C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6" name="Text 14"/>
          <p:cNvSpPr/>
          <p:nvPr/>
        </p:nvSpPr>
        <p:spPr>
          <a:xfrm>
            <a:off x="8412480" y="39776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B21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&amp; automazione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412480" y="452628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Strumenti che riducono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5A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lavoro manuale ripetitivo.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9525">
            <a:solidFill>
              <a:srgbClr val="E8DDC9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9" name="Text 17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GSM Servizi · Percorso di digitalizzazione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9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73152" cy="640080"/>
          </a:xfrm>
          <a:prstGeom prst="rect">
            <a:avLst/>
          </a:prstGeom>
          <a:solidFill>
            <a:srgbClr val="8B2C2C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B21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L'obiettivo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3657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0" b="1" dirty="0">
                <a:solidFill>
                  <a:srgbClr val="8B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</a:t>
            </a:r>
            <a:endParaRPr lang="en-US" sz="17000" dirty="0"/>
          </a:p>
        </p:txBody>
      </p:sp>
      <p:sp>
        <p:nvSpPr>
          <p:cNvPr id="5" name="Text 3"/>
          <p:cNvSpPr/>
          <p:nvPr/>
        </p:nvSpPr>
        <p:spPr>
          <a:xfrm>
            <a:off x="640080" y="379476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i="1" dirty="0">
                <a:solidFill>
                  <a:srgbClr val="C97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 10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0" y="1645920"/>
            <a:ext cx="7132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i="1" dirty="0">
                <a:solidFill>
                  <a:srgbClr val="2B21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potenziali clienti cercano online prima di scegliere un commercialista.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0" y="3017520"/>
            <a:ext cx="1371600" cy="0"/>
          </a:xfrm>
          <a:prstGeom prst="line">
            <a:avLst/>
          </a:prstGeom>
          <a:noFill/>
          <a:ln w="25400">
            <a:solidFill>
              <a:srgbClr val="8B2C2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4572000" y="3200400"/>
            <a:ext cx="71323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GSM è uno studio di livello — ma se non vi trovano, non possono sceglierci. La proposta è semplice: trasformare la presenza digitale in un canale stabile di acquisizione clienti, costruendo il percorso passo dopo passo.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9525">
            <a:solidFill>
              <a:srgbClr val="E8DDC9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GSM Servizi · Percorso di digitalizzazione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9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73152" cy="640080"/>
          </a:xfrm>
          <a:prstGeom prst="rect">
            <a:avLst/>
          </a:prstGeom>
          <a:solidFill>
            <a:srgbClr val="8B2C2C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B21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roadmap in 3 fasi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Tempistiche pensate per crescere senza forzare i ritmi dello studio.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371600" y="3200400"/>
            <a:ext cx="9418320" cy="0"/>
          </a:xfrm>
          <a:prstGeom prst="line">
            <a:avLst/>
          </a:prstGeom>
          <a:noFill/>
          <a:ln w="50800">
            <a:solidFill>
              <a:srgbClr val="E8DDC9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1481328" y="3035808"/>
            <a:ext cx="329184" cy="329184"/>
          </a:xfrm>
          <a:prstGeom prst="ellipse">
            <a:avLst/>
          </a:prstGeom>
          <a:solidFill>
            <a:srgbClr val="8B2C2C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274320" y="24231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400" dirty="0">
                <a:solidFill>
                  <a:srgbClr val="C97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Oggi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74320" y="34747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8B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Fase 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74320" y="38862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B21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Sito web + SEO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74320" y="429768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A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Essere trovati su Google da chi cerca un commercialista.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138928" y="3035808"/>
            <a:ext cx="329184" cy="329184"/>
          </a:xfrm>
          <a:prstGeom prst="ellipse">
            <a:avLst/>
          </a:prstGeom>
          <a:solidFill>
            <a:srgbClr val="8B2C2C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3931920" y="24231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400" dirty="0">
                <a:solidFill>
                  <a:srgbClr val="C97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+ 3-6 mesi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931920" y="34747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8B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Fase 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931920" y="38862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B21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LinkedIn &amp; reputazione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931920" y="429768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A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Costruire autorevolezza e relazioni nel territorio.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796528" y="3035808"/>
            <a:ext cx="329184" cy="329184"/>
          </a:xfrm>
          <a:prstGeom prst="ellipse">
            <a:avLst/>
          </a:prstGeom>
          <a:solidFill>
            <a:srgbClr val="8B2C2C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7" name="Text 15"/>
          <p:cNvSpPr/>
          <p:nvPr/>
        </p:nvSpPr>
        <p:spPr>
          <a:xfrm>
            <a:off x="7589520" y="24231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400" dirty="0">
                <a:solidFill>
                  <a:srgbClr val="C97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+ 12-24 mesi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589520" y="34747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8B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Fase 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589520" y="38862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B21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Automazione + AI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589520" y="429768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A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Liberare tempo dalle attività ripetitive a basso valore.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9525">
            <a:solidFill>
              <a:srgbClr val="E8DDC9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2" name="Text 20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GSM Servizi · Percorso di digitalizzazione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9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73152" cy="640080"/>
          </a:xfrm>
          <a:prstGeom prst="rect">
            <a:avLst/>
          </a:prstGeom>
          <a:solidFill>
            <a:srgbClr val="8B2C2C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B21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Fase 1 · Essere trovati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97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 si arriva in prima pagina di Google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457200" cy="457200"/>
          </a:xfrm>
          <a:prstGeom prst="ellipse">
            <a:avLst/>
          </a:prstGeom>
          <a:solidFill>
            <a:srgbClr val="8B2C2C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45720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97280" y="160020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B21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Keyword locali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97280" y="205740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parole che i clienti scrivono davvero ('studio commercialisti san giovanni', 'commercialista roma centro') vanno inserite nei titoli, nelle pagine e negli URL del sito.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17920" y="1645920"/>
            <a:ext cx="457200" cy="457200"/>
          </a:xfrm>
          <a:prstGeom prst="ellipse">
            <a:avLst/>
          </a:prstGeom>
          <a:solidFill>
            <a:srgbClr val="8B2C2C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621792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858000" y="160020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B21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Google Business Profile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858000" y="205740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scheda di Google Maps con orari, foto, servizi e recensioni: è il primo risultato che si vede sulle ricerche locali.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154680"/>
            <a:ext cx="457200" cy="457200"/>
          </a:xfrm>
          <a:prstGeom prst="ellipse">
            <a:avLst/>
          </a:prstGeom>
          <a:solidFill>
            <a:srgbClr val="8B2C2C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4" name="Text 12"/>
          <p:cNvSpPr/>
          <p:nvPr/>
        </p:nvSpPr>
        <p:spPr>
          <a:xfrm>
            <a:off x="457200" y="3154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97280" y="310896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B21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Contenuti utili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97280" y="356616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Articoli su scadenze fiscali, novità normative e guide pratiche: portano traffico costante e dimostrano competenza.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217920" y="3154680"/>
            <a:ext cx="457200" cy="457200"/>
          </a:xfrm>
          <a:prstGeom prst="ellipse">
            <a:avLst/>
          </a:prstGeom>
          <a:solidFill>
            <a:srgbClr val="8B2C2C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8" name="Text 16"/>
          <p:cNvSpPr/>
          <p:nvPr/>
        </p:nvSpPr>
        <p:spPr>
          <a:xfrm>
            <a:off x="6217920" y="3154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858000" y="310896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B21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Performance tecnica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858000" y="356616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Sito veloce, mobile-first, con dati strutturati (schema markup) che dicono a Google chi siamo e cosa offriamo.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4663440"/>
            <a:ext cx="457200" cy="457200"/>
          </a:xfrm>
          <a:prstGeom prst="ellipse">
            <a:avLst/>
          </a:prstGeom>
          <a:solidFill>
            <a:srgbClr val="8B2C2C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2" name="Text 20"/>
          <p:cNvSpPr/>
          <p:nvPr/>
        </p:nvSpPr>
        <p:spPr>
          <a:xfrm>
            <a:off x="457200" y="4663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097280" y="461772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B21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Link e citazioni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097280" y="507492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Presenza su directory locali, ordini professionali e siti di settore: aumenta l'autorevolezza agli occhi di Google.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" y="612648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i="1" dirty="0">
                <a:solidFill>
                  <a:srgbClr val="C97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Risultati visibili in 3-6 mesi · Costanza &gt; spinte improvvise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9525">
            <a:solidFill>
              <a:srgbClr val="E8DDC9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7" name="Text 25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GSM Servizi · Percorso di digitalizzazione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9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5A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8B2C2C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914400" y="8229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600" dirty="0">
                <a:solidFill>
                  <a:srgbClr val="C97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RISULTATO GIÀ CONCRETO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10058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1ª pagina</a:t>
            </a:r>
            <a:endParaRPr lang="en-US" sz="9200" dirty="0"/>
          </a:p>
        </p:txBody>
      </p:sp>
      <p:sp>
        <p:nvSpPr>
          <p:cNvPr id="5" name="Shape 3"/>
          <p:cNvSpPr/>
          <p:nvPr/>
        </p:nvSpPr>
        <p:spPr>
          <a:xfrm>
            <a:off x="914400" y="3474720"/>
            <a:ext cx="2286000" cy="0"/>
          </a:xfrm>
          <a:prstGeom prst="line">
            <a:avLst/>
          </a:prstGeom>
          <a:noFill/>
          <a:ln w="38100">
            <a:solidFill>
              <a:srgbClr val="C97B5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914400" y="374904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Cercando “studio commercialisti san giovanni” oggi, GSM Servizi è già visibile in prima pagina su Google.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914400" y="493776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5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primo passo non è una promessa — sta già funzionando. Adesso si tratta di consolidare, allargare le query intercettate e portare il sito a generare contatti in modo costante.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73152" cy="640080"/>
          </a:xfrm>
          <a:prstGeom prst="rect">
            <a:avLst/>
          </a:prstGeom>
          <a:solidFill>
            <a:srgbClr val="8B2C2C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B21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Fase 2 · Essere riconosciuti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97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 &amp; reputazione professionale (3-6 mesi dall'avvio)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5303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i="1" dirty="0">
                <a:solidFill>
                  <a:srgbClr val="2B21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Una volta che il sito porta visite, serve un secondo livello: far sì che chi vi conosce ricordi il vostro nome, e che chi non vi conosce vi incontri nel posto giusto.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3200400"/>
            <a:ext cx="1371600" cy="0"/>
          </a:xfrm>
          <a:prstGeom prst="line">
            <a:avLst/>
          </a:prstGeom>
          <a:noFill/>
          <a:ln w="25400">
            <a:solidFill>
              <a:srgbClr val="8B2C2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457200" y="3383280"/>
            <a:ext cx="53035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A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 è oggi il social di riferimento per il mondo professionale: imprenditori, manager, consulenti. È il canale più diretto per portare lo studio davanti ai clienti che servono.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17920" y="1691640"/>
            <a:ext cx="54864" cy="777240"/>
          </a:xfrm>
          <a:prstGeom prst="rect">
            <a:avLst/>
          </a:prstGeom>
          <a:solidFill>
            <a:srgbClr val="8B2C2C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9" name="Text 7"/>
          <p:cNvSpPr/>
          <p:nvPr/>
        </p:nvSpPr>
        <p:spPr>
          <a:xfrm>
            <a:off x="6446520" y="1691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B21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Profilo aziendale curato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46520" y="205740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Logo, descrizione, servizi, foto del team.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17920" y="2560320"/>
            <a:ext cx="54864" cy="777240"/>
          </a:xfrm>
          <a:prstGeom prst="rect">
            <a:avLst/>
          </a:prstGeom>
          <a:solidFill>
            <a:srgbClr val="8B2C2C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6446520" y="2560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B21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Profili dei soci coordinati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46520" y="292608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Stessa identità visiva e tono di voce.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17920" y="3429000"/>
            <a:ext cx="54864" cy="777240"/>
          </a:xfrm>
          <a:prstGeom prst="rect">
            <a:avLst/>
          </a:prstGeom>
          <a:solidFill>
            <a:srgbClr val="8B2C2C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5" name="Text 13"/>
          <p:cNvSpPr/>
          <p:nvPr/>
        </p:nvSpPr>
        <p:spPr>
          <a:xfrm>
            <a:off x="6446520" y="34290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B21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Contenuti regolari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446520" y="379476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Scadenze, novità, brevi guide — utili e leggibili.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217920" y="4297680"/>
            <a:ext cx="54864" cy="777240"/>
          </a:xfrm>
          <a:prstGeom prst="rect">
            <a:avLst/>
          </a:prstGeom>
          <a:solidFill>
            <a:srgbClr val="8B2C2C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8" name="Text 16"/>
          <p:cNvSpPr/>
          <p:nvPr/>
        </p:nvSpPr>
        <p:spPr>
          <a:xfrm>
            <a:off x="6446520" y="4297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B21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Networking mirato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46520" y="466344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Connessioni con clienti target e referrer locali.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217920" y="5166360"/>
            <a:ext cx="54864" cy="777240"/>
          </a:xfrm>
          <a:prstGeom prst="rect">
            <a:avLst/>
          </a:prstGeom>
          <a:solidFill>
            <a:srgbClr val="8B2C2C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1" name="Text 19"/>
          <p:cNvSpPr/>
          <p:nvPr/>
        </p:nvSpPr>
        <p:spPr>
          <a:xfrm>
            <a:off x="6446520" y="5166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B21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Annunci sponsorizzati selettivi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446520" y="553212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dove portano contatti concreti.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9525">
            <a:solidFill>
              <a:srgbClr val="E8DDC9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4" name="Text 22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GSM Servizi · Percorso di digitalizzazione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9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73152" cy="640080"/>
          </a:xfrm>
          <a:prstGeom prst="rect">
            <a:avLst/>
          </a:prstGeom>
          <a:solidFill>
            <a:srgbClr val="8B2C2C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B21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Fase 3 · </a:t>
            </a:r>
            <a:r>
              <a:rPr lang="en-US" sz="3200" b="1" dirty="0" err="1">
                <a:solidFill>
                  <a:srgbClr val="2B21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Lavorare</a:t>
            </a:r>
            <a:r>
              <a:rPr lang="en-US" sz="3200" b="1" dirty="0">
                <a:solidFill>
                  <a:srgbClr val="2B21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veloce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97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Automazione + intelligenza artificiale (12-24 mesi)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11247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il flusso di clienti sarà cresciuto, la priorità cambia: non più 'farsi trovare', ma 'lavorare con qualità senza farsi sommergere'. Qui entrano automazione e AI — non come moda, ma come strumenti scelti dove portano un vantaggio reale.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743200"/>
            <a:ext cx="54864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C9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Shape 5"/>
          <p:cNvSpPr/>
          <p:nvPr/>
        </p:nvSpPr>
        <p:spPr>
          <a:xfrm>
            <a:off x="457200" y="2743200"/>
            <a:ext cx="73152" cy="1554480"/>
          </a:xfrm>
          <a:prstGeom prst="rect">
            <a:avLst/>
          </a:prstGeom>
          <a:solidFill>
            <a:srgbClr val="8B2C2C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731520" y="29718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B21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Raccolta documenti automatica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347472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Portale clienti per inviare fatture e ricevute. Riconoscimento automatico (OCR) per non re-inserire i dati a mano.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17920" y="2743200"/>
            <a:ext cx="54864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C9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Shape 9"/>
          <p:cNvSpPr/>
          <p:nvPr/>
        </p:nvSpPr>
        <p:spPr>
          <a:xfrm>
            <a:off x="6217920" y="2743200"/>
            <a:ext cx="73152" cy="1554480"/>
          </a:xfrm>
          <a:prstGeom prst="rect">
            <a:avLst/>
          </a:prstGeom>
          <a:solidFill>
            <a:srgbClr val="8B2C2C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6492240" y="29718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B21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Assistente AI per i clienti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Risposte immediate alle domande ricorrenti (scadenze, documenti, stato pratica), con escalation allo studio.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4480560"/>
            <a:ext cx="54864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C9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Shape 13"/>
          <p:cNvSpPr/>
          <p:nvPr/>
        </p:nvSpPr>
        <p:spPr>
          <a:xfrm>
            <a:off x="457200" y="4480560"/>
            <a:ext cx="73152" cy="1554480"/>
          </a:xfrm>
          <a:prstGeom prst="rect">
            <a:avLst/>
          </a:prstGeom>
          <a:solidFill>
            <a:srgbClr val="8B2C2C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6" name="Text 14"/>
          <p:cNvSpPr/>
          <p:nvPr/>
        </p:nvSpPr>
        <p:spPr>
          <a:xfrm>
            <a:off x="731520" y="470916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B21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Prima analisi dei bilanci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31520" y="52120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L'AI prepara una bozza di lettura dei conti — voi la rifinite. Più tempo per la consulenza di valore.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17920" y="4480560"/>
            <a:ext cx="54864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C9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9" name="Shape 17"/>
          <p:cNvSpPr/>
          <p:nvPr/>
        </p:nvSpPr>
        <p:spPr>
          <a:xfrm>
            <a:off x="6217920" y="4480560"/>
            <a:ext cx="73152" cy="1554480"/>
          </a:xfrm>
          <a:prstGeom prst="rect">
            <a:avLst/>
          </a:prstGeom>
          <a:solidFill>
            <a:srgbClr val="8B2C2C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0" name="Text 18"/>
          <p:cNvSpPr/>
          <p:nvPr/>
        </p:nvSpPr>
        <p:spPr>
          <a:xfrm>
            <a:off x="6492240" y="470916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B21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Integrazione col gestionale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492240" y="52120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Connessione con i sistemi che già usate per evitare doppi inserimenti, senza sostituire nulla.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9525">
            <a:solidFill>
              <a:srgbClr val="E8DDC9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3" name="Text 21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GSM Servizi · Percorso di digitalizzazione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9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73152" cy="640080"/>
          </a:xfrm>
          <a:prstGeom prst="rect">
            <a:avLst/>
          </a:prstGeom>
          <a:solidFill>
            <a:srgbClr val="8B2C2C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B21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Prossimi passi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i="1" dirty="0">
                <a:solidFill>
                  <a:srgbClr val="8B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Il sito è online, la prima pagina di Google è già nostra: la base c'è.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237744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C97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1645920" y="24231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B21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Una </a:t>
            </a:r>
            <a:r>
              <a:rPr lang="en-US" sz="1800" b="1" dirty="0" err="1">
                <a:solidFill>
                  <a:srgbClr val="2B21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chiacchierata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645920" y="28803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Vediamo insieme la roadmap, la calibriamo sui tempi e sulle priorità reali dello studio.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361188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C97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1645920" y="3657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B21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 piano scritto su misura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645920" y="41148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Obiettivi chiari, tempi e costi trasparenti, niente impegni che non servono.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484632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C97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1645920" y="48920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B21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 parte dalla Fase 1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645920" y="53492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 e contenuti — il modo più rapido per consolidare quello che la Fase 1 ha già acceso.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5943600"/>
            <a:ext cx="11247120" cy="0"/>
          </a:xfrm>
          <a:prstGeom prst="line">
            <a:avLst/>
          </a:prstGeom>
          <a:noFill/>
          <a:ln w="12700">
            <a:solidFill>
              <a:srgbClr val="E8DDC9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Text 13"/>
          <p:cNvSpPr/>
          <p:nvPr/>
        </p:nvSpPr>
        <p:spPr>
          <a:xfrm>
            <a:off x="457200" y="60807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i="1" dirty="0">
                <a:solidFill>
                  <a:srgbClr val="8B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Vittorio Carobene Arangia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864</Words>
  <Application>Microsoft Office PowerPoint</Application>
  <PresentationFormat>Widescreen</PresentationFormat>
  <Paragraphs>116</Paragraphs>
  <Slides>9</Slides>
  <Notes>9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9</vt:i4>
      </vt:variant>
    </vt:vector>
  </HeadingPairs>
  <TitlesOfParts>
    <vt:vector size="13" baseType="lpstr">
      <vt:lpstr>Arial</vt:lpstr>
      <vt:lpstr>Calibri</vt:lpstr>
      <vt:lpstr>Georgia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>GSM Servizi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Percorso di digitalizzazione — GSM Servizi</dc:title>
  <dc:subject>PptxGenJS Presentation</dc:subject>
  <dc:creator>Vittorio Carobene Arangia</dc:creator>
  <cp:lastModifiedBy>Vittorio Carobene Arangia</cp:lastModifiedBy>
  <cp:revision>2</cp:revision>
  <dcterms:created xsi:type="dcterms:W3CDTF">2026-05-07T10:29:17Z</dcterms:created>
  <dcterms:modified xsi:type="dcterms:W3CDTF">2026-05-07T10:33:01Z</dcterms:modified>
</cp:coreProperties>
</file>